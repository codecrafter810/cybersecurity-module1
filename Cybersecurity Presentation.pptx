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37" y="2597050"/>
            <a:ext cx="3362325" cy="333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80398" y="3168550"/>
            <a:ext cx="9631203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>
                <a:solidFill>
                  <a:srgbClr val="F8FAFC"/>
                </a:solidFill>
                <a:latin typeface="Outfit"/>
              </a:rPr>
              <a:t>Foundations of Information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43187" y="3946624"/>
            <a:ext cx="69056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Inter Medium"/>
              </a:rPr>
              <a:t>Core Frameworks, Threat Dynamics, Asset Defense &amp; Case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10739" y="3169443"/>
            <a:ext cx="4170521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F8FAFC"/>
                </a:solidFill>
                <a:latin typeface="Outfit"/>
              </a:rPr>
              <a:t>01. The CIA Triad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86050" y="3960018"/>
            <a:ext cx="68199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The foundational framework governing information security controls and data protection.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1725"/>
            <a:ext cx="3492549" cy="2857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71725"/>
            <a:ext cx="3492549" cy="2857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71725"/>
            <a:ext cx="3492549" cy="2857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67000"/>
            <a:ext cx="533400" cy="53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390900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Outfit"/>
              </a:rPr>
              <a:t>Confidentiality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90950"/>
            <a:ext cx="29019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Restricting data access strictly to authorized entities. Enforced via strong encryption, multi-factor authentication (MFA), and role-based access control (RBAC).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667000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390900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Outfit"/>
              </a:rPr>
              <a:t>Integrity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790950"/>
            <a:ext cx="29019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Ensuring information remains authentic, accurate, and unalterable by unauthorized parties. Protected using cryptographic hashing, digital signatures, and audit logs.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667000"/>
            <a:ext cx="533400" cy="533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390900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Outfit"/>
              </a:rPr>
              <a:t>Availability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790950"/>
            <a:ext cx="29019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Guaranteeing timely, reliable system and data access for authorized users. Maintained through redundant infrastructure, DDoS mitigation, and robust backups.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787" y="2800350"/>
            <a:ext cx="333375" cy="2667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1762" y="2800350"/>
            <a:ext cx="200025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6724" y="2800350"/>
            <a:ext cx="266700" cy="2667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Outfit"/>
              </a:rPr>
              <a:t>The Three Pillars of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1737"/>
            <a:ext cx="5381625" cy="2657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71737"/>
            <a:ext cx="5381625" cy="26574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814637"/>
            <a:ext cx="4930616" cy="285750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Outfit"/>
              </a:rPr>
              <a:t>Threat vs. Vulnerability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14687"/>
            <a:ext cx="469582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Threat: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Any circumstance or potential event with the capability to cause harm or exploit a system (e.g., Ransomware, Phishing, Rogue Insiders).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57650"/>
            <a:ext cx="4695825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Vulnerability: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A flaw or weakness in system design, implementation, or operational controls (e.g., Unpatched software, Missing MFA, Weak passwords).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2814637"/>
            <a:ext cx="4930616" cy="285750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Outfit"/>
              </a:rPr>
              <a:t>Risk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214687"/>
            <a:ext cx="469582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Risk Equation: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</a:t>
            </a:r>
            <a:r>
              <a:rPr sz="1275" b="0" i="1" u="none">
                <a:solidFill>
                  <a:srgbClr val="F8FAFC"/>
                </a:solidFill>
                <a:latin typeface="Inter"/>
              </a:rPr>
              <a:t>Risk = Threat × Vulnerability ×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571875"/>
            <a:ext cx="4695825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Risk represents the probability and magnitude of loss resulting from a threat successfully exploiting a system vulnerability. Mitigation involves lowering vulnerability or impact.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843212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843212"/>
            <a:ext cx="1714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Outfit"/>
              </a:rPr>
              <a:t>Threat, Vulnerability &amp; Risk Dynamics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681537"/>
              </p:ext>
            </p:extLst>
          </p:nvPr>
        </p:nvGraphicFramePr>
        <p:xfrm>
          <a:off x="571500" y="2124074"/>
          <a:ext cx="11048998" cy="3348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3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006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Outfit SemiBold"/>
                        </a:rPr>
                        <a:t>Threat Scenario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Outfit SemiBold"/>
                        </a:rPr>
                        <a:t>Vulnerability Exploited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Outfit SemiBold"/>
                        </a:rPr>
                        <a:t>Risk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8BDF8"/>
                          </a:solidFill>
                          <a:latin typeface="Outfit SemiBold"/>
                        </a:rPr>
                        <a:t>Impacted CIA Pillar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006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Unauthenticated Remote Login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Missing Multi-Factor Authentication (MFA)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94A3B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Confidentiality &amp; Availability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006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Spear-Phishing Credential Theft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Lack of Security Awareness Training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94A3B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Confidentiality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006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SQL Injection Attack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Unsanitized Database Input Queries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94A3B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Integrity &amp; Confidentiality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006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Ransomware Encryption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Outdated Patching &amp; Single Backup Copy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94A3B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Availability &amp; Integrity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007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Insider Data Exfiltration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94A3B8"/>
                          </a:solidFill>
                          <a:latin typeface="Inter"/>
                        </a:rPr>
                        <a:t>Over-privileged User Permissions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sz="1275" b="0" i="0" u="none" dirty="0">
                        <a:solidFill>
                          <a:srgbClr val="94A3B8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>
                          <a:solidFill>
                            <a:srgbClr val="94A3B8"/>
                          </a:solidFill>
                          <a:latin typeface="Inter"/>
                        </a:rPr>
                        <a:t>Confidentiality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683668"/>
            <a:ext cx="30253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596878" y="2683668"/>
            <a:ext cx="38839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80845" y="2683668"/>
            <a:ext cx="14411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21948" y="2683668"/>
            <a:ext cx="26985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240881"/>
            <a:ext cx="30253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96878" y="3240881"/>
            <a:ext cx="38839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80845" y="3240881"/>
            <a:ext cx="14411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921948" y="3240881"/>
            <a:ext cx="26985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798093"/>
            <a:ext cx="30253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96878" y="3798093"/>
            <a:ext cx="38839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80845" y="3798093"/>
            <a:ext cx="14411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21948" y="3798093"/>
            <a:ext cx="26985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355306"/>
            <a:ext cx="30253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96878" y="4355306"/>
            <a:ext cx="38839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80845" y="4355306"/>
            <a:ext cx="14411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21948" y="4355306"/>
            <a:ext cx="26985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" y="4912518"/>
            <a:ext cx="302537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96878" y="4912518"/>
            <a:ext cx="388396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80845" y="4912518"/>
            <a:ext cx="144110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21948" y="4912518"/>
            <a:ext cx="26985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429" y="2832781"/>
            <a:ext cx="752475" cy="247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345" y="3407568"/>
            <a:ext cx="752475" cy="2476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345" y="3964781"/>
            <a:ext cx="752475" cy="2476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345" y="4521993"/>
            <a:ext cx="895350" cy="2476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8007" y="5052106"/>
            <a:ext cx="962025" cy="2476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Outfit"/>
              </a:rPr>
              <a:t>Risk Assessment Matrix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0515" y="3169443"/>
            <a:ext cx="7750968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F8FAFC"/>
                </a:solidFill>
                <a:latin typeface="Outfit"/>
              </a:rPr>
              <a:t>02. Defense &amp; Incident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95562" y="3960018"/>
            <a:ext cx="70008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Safeguarding higher education assets and examining high-impact industry cyber breaches.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6072758"/>
            <a:ext cx="1883664" cy="105956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21706"/>
            <a:ext cx="3492549" cy="31575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21706"/>
            <a:ext cx="3492549" cy="31575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21706"/>
            <a:ext cx="3492549" cy="31575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231231"/>
            <a:ext cx="3473499" cy="1714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4136231"/>
            <a:ext cx="324712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Outfit"/>
              </a:rPr>
              <a:t>Student Information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4450556"/>
            <a:ext cx="30924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Contains PII, grades, and financial records. High risk for identity theft and FERPA compliance violations.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9324" y="2231231"/>
            <a:ext cx="20478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49824" y="4136231"/>
            <a:ext cx="324712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Outfit"/>
              </a:rPr>
              <a:t>Proprietary Research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9824" y="4450556"/>
            <a:ext cx="30924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Valuable intellectual property and grant research. Target for state-sponsored cyber espionage and data theft.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7624" y="2231231"/>
            <a:ext cx="3473499" cy="1714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8328124" y="4136231"/>
            <a:ext cx="324712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Outfit"/>
              </a:rPr>
              <a:t>Financial &amp; HR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4450556"/>
            <a:ext cx="3092499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94A3B8"/>
                </a:solidFill>
                <a:latin typeface="Inter"/>
              </a:rPr>
              <a:t>Controls payroll, vendor transactions, and operations. Primary target for ransomware extortion and wire fraud.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Outfit"/>
              </a:rPr>
              <a:t>Academic Digital Asset Protection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771E989-82D2-FF44-0B2C-DE55C5833C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59324" y="2231230"/>
            <a:ext cx="3483024" cy="17145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6007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Outfit"/>
              </a:rPr>
              <a:t>Case Analysis: Change Healthcare (2024)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909292"/>
            <a:ext cx="56007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38BDF8"/>
                </a:solidFill>
                <a:latin typeface="Outfit"/>
              </a:rPr>
              <a:t>Systemic National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309342"/>
            <a:ext cx="53340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In February 2024, the BlackCat/ALPHV ransomware group breached Change Healthcare via stolen Citrix credentials on an unpatched remote portal.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229100"/>
            <a:ext cx="5334000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Crucially, the legacy system </a:t>
            </a:r>
            <a:r>
              <a:rPr sz="1275" b="1" i="0" u="none">
                <a:solidFill>
                  <a:srgbClr val="94A3B8"/>
                </a:solidFill>
                <a:latin typeface="Inter"/>
              </a:rPr>
              <a:t>lacked Multi-Factor Authentication (MFA)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, enabling threat actors to navigate undetected for 9 days prior to deploying data-wiping ransomware.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7487"/>
            <a:ext cx="3492400" cy="2085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2757487"/>
            <a:ext cx="3492549" cy="2085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50" y="2757487"/>
            <a:ext cx="3492400" cy="20859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3100387"/>
            <a:ext cx="30923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38BDF8"/>
                </a:solidFill>
                <a:latin typeface="Outfit"/>
              </a:rPr>
              <a:t>192.7M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824287"/>
            <a:ext cx="3092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Inter SemiBold"/>
              </a:rPr>
              <a:t>Records Stolen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4100512"/>
            <a:ext cx="3092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The largest healthcare data breach in US history, compromising personal health info.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9675" y="3100387"/>
            <a:ext cx="309249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38BDF8"/>
                </a:solidFill>
                <a:latin typeface="Outfit"/>
              </a:rPr>
              <a:t>$2.45B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9675" y="3824287"/>
            <a:ext cx="3092499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Inter SemiBold"/>
              </a:rPr>
              <a:t>Total Cost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9675" y="4100512"/>
            <a:ext cx="309249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Combined response costs, $22M ransom payment, and emergency provider advances.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7975" y="3100387"/>
            <a:ext cx="30923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38BDF8"/>
                </a:solidFill>
                <a:latin typeface="Outfit"/>
              </a:rPr>
              <a:t>9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7975" y="3824287"/>
            <a:ext cx="3092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Inter SemiBold"/>
              </a:rPr>
              <a:t>Dwell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7975" y="4100512"/>
            <a:ext cx="3092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Attackers spent nine days moving laterally before deploying ransomware encryption.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Outfit"/>
              </a:rPr>
              <a:t>Quantifying the Healthcare Breach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45543" y="3169443"/>
            <a:ext cx="7300912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F8FAFC"/>
                </a:solidFill>
                <a:latin typeface="Outfit"/>
              </a:rPr>
              <a:t>03. Ethics, Law &amp;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4175" y="3960018"/>
            <a:ext cx="63436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Navigating white-hat hacking boundaries, legal frameworks, and disclosure ethics.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571625" y="2243137"/>
            <a:ext cx="9048750" cy="885825"/>
          </a:xfrm>
          <a:prstGeom prst="roundRect">
            <a:avLst>
              <a:gd name="adj" fmla="val 1075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90750" y="2433637"/>
            <a:ext cx="81915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Explicit Authorization Required: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Penetration testing without written scope and explicit consent violates federal law (CFAA) regardless of intent.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1625" y="3281362"/>
            <a:ext cx="9048750" cy="885825"/>
          </a:xfrm>
          <a:prstGeom prst="roundRect">
            <a:avLst>
              <a:gd name="adj" fmla="val 1075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90750" y="3471862"/>
            <a:ext cx="81915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Legal Frameworks (CFAA &amp; GDPR):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Cyber defenders must adhere to strict regulatory compliance standards, data privacy laws, and statutory breach reporting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71625" y="4319587"/>
            <a:ext cx="9048750" cy="885825"/>
          </a:xfrm>
          <a:prstGeom prst="roundRect">
            <a:avLst>
              <a:gd name="adj" fmla="val 1075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90750" y="4510087"/>
            <a:ext cx="81915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F8FAFC"/>
                </a:solidFill>
                <a:latin typeface="Inter"/>
              </a:rPr>
              <a:t>Coordinated Vulnerability Disclosure (CVD):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Ethical hackers notify vendors privately and grant reasonable remediation periods before public release.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571625" y="3119437"/>
            <a:ext cx="9048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71625" y="4157662"/>
            <a:ext cx="9048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71625" y="5195887"/>
            <a:ext cx="90487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275" y="2457450"/>
            <a:ext cx="23812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275" y="3495675"/>
            <a:ext cx="266700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9275" y="4533900"/>
            <a:ext cx="209550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Outfit"/>
              </a:rPr>
              <a:t>Ethical Hacking &amp; Legal Boundaries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" y="5973699"/>
            <a:ext cx="11049000" cy="447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8FAFC"/>
                </a:solidFill>
                <a:latin typeface="Outfit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628775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Inter"/>
              </a:rPr>
              <a:t>Security is not a product—it is an ongoing operational process.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84801E-D93D-C54D-CC5E-B5FB3F0A4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3012" y="2193988"/>
            <a:ext cx="6245352" cy="33748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1500" y="2090737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3033712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97668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0241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7492" y="39567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9671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9671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738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738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044" y="3301493"/>
            <a:ext cx="857250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77790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19562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91087"/>
            <a:ext cx="857250" cy="4762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4C1C058-D32B-AF00-0327-967BE4BEC4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587</Words>
  <Application>Microsoft Office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Inter</vt:lpstr>
      <vt:lpstr>Inter Medium</vt:lpstr>
      <vt:lpstr>Inter SemiBold</vt:lpstr>
      <vt:lpstr>Outfit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mohmmad fayaz</dc:creator>
  <cp:keywords/>
  <dc:description>generated using python-pptx</dc:description>
  <cp:lastModifiedBy>mohmmad fayaz</cp:lastModifiedBy>
  <cp:revision>2</cp:revision>
  <dcterms:created xsi:type="dcterms:W3CDTF">2013-01-27T09:14:16Z</dcterms:created>
  <dcterms:modified xsi:type="dcterms:W3CDTF">2026-07-30T18:44:01Z</dcterms:modified>
  <cp:category/>
</cp:coreProperties>
</file>